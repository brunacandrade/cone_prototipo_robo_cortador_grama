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embeddedFontLst>
    <p:embeddedFont>
      <p:font typeface="Play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KZ0eoyESZGJfDBkIzVt4BhF2L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ay-regular.fntdata"/><Relationship Id="rId25" Type="http://schemas.openxmlformats.org/officeDocument/2006/relationships/slide" Target="slides/slide21.xml"/><Relationship Id="rId28" Type="http://customschemas.google.com/relationships/presentationmetadata" Target="metadata"/><Relationship Id="rId27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c71175f9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7c71175f96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08f62548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b08f625481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Emoções de áudios: tristeza, surpresa, nojo, neutro, medo, felicidade e calmo.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d52849a88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2d52849a886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08f62548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b08f625481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08f62548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b08f625481_0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d52849a88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2d52849a886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08f625481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b08f625481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08f62548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b08f625481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08f62548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b08f625481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d52849a88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2d52849a886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08f62548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b08f625481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08f62548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b08f625481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d52849a88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2d52849a886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08f625481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b08f625481_0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08f62548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3b08f625481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c71175f9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37c71175f96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08f62548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b08f625481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08f62548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3b08f625481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 rot="5400000">
            <a:off x="3920332" y="-1256507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0" name="Google Shape;4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hyperlink" Target="http://drive.google.com/file/d/1SKt8V36xDJgpFMeyudzW_YlUS35Oez8o/view" TargetMode="External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Relationship Id="rId4" Type="http://schemas.openxmlformats.org/officeDocument/2006/relationships/image" Target="../media/image9.jpg"/><Relationship Id="rId5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Relationship Id="rId4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Relationship Id="rId4" Type="http://schemas.openxmlformats.org/officeDocument/2006/relationships/image" Target="../media/image2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Relationship Id="rId4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jpg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756900" y="1191325"/>
            <a:ext cx="84036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400">
                <a:latin typeface="Calibri"/>
                <a:ea typeface="Calibri"/>
                <a:cs typeface="Calibri"/>
                <a:sym typeface="Calibri"/>
              </a:rPr>
              <a:t>DESENVOLVIMENTO DO PROTÓTIPO DE ROBÔ</a:t>
            </a:r>
            <a:endParaRPr b="1" sz="4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400">
                <a:latin typeface="Calibri"/>
                <a:ea typeface="Calibri"/>
                <a:cs typeface="Calibri"/>
                <a:sym typeface="Calibri"/>
              </a:rPr>
              <a:t>CORTADOR DE GRAMA</a:t>
            </a:r>
            <a:endParaRPr b="1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56975" y="4144950"/>
            <a:ext cx="9911100" cy="13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Projeto da Disciplina de Oficina de Integração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Bruna Carolina Andrade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Marco Antonio Sordi Coelho</a:t>
            </a:r>
            <a:endParaRPr/>
          </a:p>
        </p:txBody>
      </p:sp>
      <p:pic>
        <p:nvPicPr>
          <p:cNvPr id="86" name="Google Shape;86;p1" title="WhatsApp Image 2025-12-15 at 12.52.51.jpeg"/>
          <p:cNvPicPr preferRelativeResize="0"/>
          <p:nvPr/>
        </p:nvPicPr>
        <p:blipFill rotWithShape="1">
          <a:blip r:embed="rId4">
            <a:alphaModFix/>
          </a:blip>
          <a:srcRect b="6276" l="0" r="0" t="25724"/>
          <a:stretch/>
        </p:blipFill>
        <p:spPr>
          <a:xfrm>
            <a:off x="7356250" y="1252800"/>
            <a:ext cx="3086100" cy="466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838200" y="1131887"/>
            <a:ext cx="94536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MOTIVAÇÃO E 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838200" y="2006225"/>
            <a:ext cx="9563100" cy="3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Robôs cortadores comerciais têm alto custo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Proposta: solução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acadêmica e de baixo custo</a:t>
            </a:r>
            <a:b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Integração de: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Visão computacional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embarcados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Controle de movimento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c71175f96_0_3"/>
          <p:cNvSpPr txBox="1"/>
          <p:nvPr/>
        </p:nvSpPr>
        <p:spPr>
          <a:xfrm>
            <a:off x="838200" y="1131887"/>
            <a:ext cx="94536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ARQUITETURA DO SISTEMA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7c71175f96_0_3"/>
          <p:cNvSpPr txBox="1"/>
          <p:nvPr/>
        </p:nvSpPr>
        <p:spPr>
          <a:xfrm>
            <a:off x="838200" y="1963750"/>
            <a:ext cx="9563100" cy="3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Arquitetura híbrida: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Raspberry Pi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alto nível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STM32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controle reativo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Comunicação via UART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modular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08f625481_0_48"/>
          <p:cNvSpPr txBox="1"/>
          <p:nvPr/>
        </p:nvSpPr>
        <p:spPr>
          <a:xfrm>
            <a:off x="838200" y="1131887"/>
            <a:ext cx="94536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ARQUITETURA DO SISTEMA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g3b08f625481_0_48" title="arquiteturaSistema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300" y="1615851"/>
            <a:ext cx="10558724" cy="432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838200" y="1284287"/>
            <a:ext cx="4327525" cy="1128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FLUXO DA LÓGICA DE CONTROLE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838200" y="2615825"/>
            <a:ext cx="9563100" cy="27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Processamento cíclico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Segurança tem prioridade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Navegação atua quando seguro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d52849a886_0_5"/>
          <p:cNvSpPr txBox="1"/>
          <p:nvPr/>
        </p:nvSpPr>
        <p:spPr>
          <a:xfrm>
            <a:off x="838200" y="1284275"/>
            <a:ext cx="86748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DETECÇÃO DA BARREIRA (SEGURANÇA)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2d52849a886_0_5"/>
          <p:cNvSpPr txBox="1"/>
          <p:nvPr/>
        </p:nvSpPr>
        <p:spPr>
          <a:xfrm>
            <a:off x="838200" y="2615825"/>
            <a:ext cx="95631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Segmentação de cor (HSV)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Região de interesse inferior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três zonas: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Perigo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Crítico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08f625481_0_58"/>
          <p:cNvSpPr txBox="1"/>
          <p:nvPr/>
        </p:nvSpPr>
        <p:spPr>
          <a:xfrm>
            <a:off x="838200" y="1284275"/>
            <a:ext cx="86748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DETECÇÃO DA BARREIRA (SEGURANÇA)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g3b08f625481_0_58" title="Perigo15c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9737" y="2841703"/>
            <a:ext cx="3562850" cy="2659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b08f625481_0_58" title="Critico10c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9400" y="2836857"/>
            <a:ext cx="3562850" cy="2669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b08f625481_0_58" title="Seguro30c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2444" y="2833750"/>
            <a:ext cx="3562850" cy="267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08f625481_0_134"/>
          <p:cNvSpPr txBox="1"/>
          <p:nvPr/>
        </p:nvSpPr>
        <p:spPr>
          <a:xfrm>
            <a:off x="838200" y="736025"/>
            <a:ext cx="86748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DETECÇÃO DA BARREIRA (SEGURANÇA)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g3b08f625481_0_134" title="Design sem nome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8963" y="2026500"/>
            <a:ext cx="5413274" cy="405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d52849a886_0_10"/>
          <p:cNvSpPr txBox="1"/>
          <p:nvPr/>
        </p:nvSpPr>
        <p:spPr>
          <a:xfrm>
            <a:off x="838200" y="1284275"/>
            <a:ext cx="66207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GERAÇÃO DOS MARCADORES ArUco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2d52849a886_0_10"/>
          <p:cNvSpPr txBox="1"/>
          <p:nvPr/>
        </p:nvSpPr>
        <p:spPr>
          <a:xfrm>
            <a:off x="838200" y="2615825"/>
            <a:ext cx="95631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do dicionário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DICT_6X6_250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Geração de marcadores com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IDs específicos</a:t>
            </a:r>
            <a:b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Impressão física para uso no ambiente de testes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g2d52849a886_0_10" title="aruco_end_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6200" y="2871650"/>
            <a:ext cx="2311025" cy="231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08f625481_0_141"/>
          <p:cNvSpPr txBox="1"/>
          <p:nvPr/>
        </p:nvSpPr>
        <p:spPr>
          <a:xfrm>
            <a:off x="838200" y="1284275"/>
            <a:ext cx="66207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NAVEGAÇÃO COM ArUco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b08f625481_0_141"/>
          <p:cNvSpPr txBox="1"/>
          <p:nvPr/>
        </p:nvSpPr>
        <p:spPr>
          <a:xfrm>
            <a:off x="838200" y="2615825"/>
            <a:ext cx="95631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Marcadores ArUco como referência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Estimativa de pose (solvePnP)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Dois comportamentos: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Correção lateral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Giro no fim da faixa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g3b08f625481_0_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1725" y="2526950"/>
            <a:ext cx="3014449" cy="280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08f625481_0_66"/>
          <p:cNvSpPr txBox="1"/>
          <p:nvPr/>
        </p:nvSpPr>
        <p:spPr>
          <a:xfrm>
            <a:off x="838200" y="1284275"/>
            <a:ext cx="66207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NAVEGAÇÃO COM ArUco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g3b08f625481_0_66" title="correcaodireita.jf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4063" y="4768450"/>
            <a:ext cx="8143875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b08f625481_0_66" title="correcaoesquerda.jf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7375" y="2934050"/>
            <a:ext cx="8277225" cy="15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08f625481_0_75"/>
          <p:cNvSpPr txBox="1"/>
          <p:nvPr/>
        </p:nvSpPr>
        <p:spPr>
          <a:xfrm>
            <a:off x="838200" y="1284275"/>
            <a:ext cx="66207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NAVEGAÇÃO COM ArUco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g3b08f625481_0_75" title="primeiravolta.jf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0750" y="2755375"/>
            <a:ext cx="8334375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b08f625481_0_75" title="segundavolta.jf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6000" y="4260725"/>
            <a:ext cx="8143875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d52849a886_0_15"/>
          <p:cNvSpPr txBox="1"/>
          <p:nvPr/>
        </p:nvSpPr>
        <p:spPr>
          <a:xfrm>
            <a:off x="838200" y="1284275"/>
            <a:ext cx="58917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CLASSIFICAÇÃO DE 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2d52849a886_0_15"/>
          <p:cNvSpPr txBox="1"/>
          <p:nvPr/>
        </p:nvSpPr>
        <p:spPr>
          <a:xfrm>
            <a:off x="838200" y="2615825"/>
            <a:ext cx="4569900" cy="36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Grama alta com 292 img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Grama baixa com 304 img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Grama obstaculo com 147 img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g2d52849a886_0_15" title="c27266fe-73b8-41b7-8916-11aaa27af89b.jf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7975" y="2670333"/>
            <a:ext cx="6321450" cy="297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08f625481_0_96"/>
          <p:cNvSpPr txBox="1"/>
          <p:nvPr/>
        </p:nvSpPr>
        <p:spPr>
          <a:xfrm>
            <a:off x="838200" y="1284275"/>
            <a:ext cx="58917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CLASSIFICAÇÃO DE 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b08f625481_0_96"/>
          <p:cNvSpPr txBox="1"/>
          <p:nvPr/>
        </p:nvSpPr>
        <p:spPr>
          <a:xfrm>
            <a:off x="838200" y="2615825"/>
            <a:ext cx="4649400" cy="30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modelo classificou a imagem como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grama alta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com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57,03% de confiança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g3b08f625481_0_96" title="SEQ_5_20251211_07241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1600" y="2073950"/>
            <a:ext cx="4982825" cy="373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08f625481_0_88"/>
          <p:cNvSpPr txBox="1"/>
          <p:nvPr/>
        </p:nvSpPr>
        <p:spPr>
          <a:xfrm>
            <a:off x="838200" y="1284275"/>
            <a:ext cx="58917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LÓGICA DE ARBITRAGEM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b08f625481_0_88"/>
          <p:cNvSpPr txBox="1"/>
          <p:nvPr/>
        </p:nvSpPr>
        <p:spPr>
          <a:xfrm>
            <a:off x="838200" y="2615825"/>
            <a:ext cx="9900600" cy="36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Comandos avaliados por prioridade: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Parar (S)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Desacelerar (D)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Correção / Avanço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g3b08f625481_0_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4950" y="2273488"/>
            <a:ext cx="4038297" cy="231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b08f625481_0_88" title="arucoelinha.jf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21650" y="4910075"/>
            <a:ext cx="5733696" cy="97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52849a886_0_25"/>
          <p:cNvSpPr txBox="1"/>
          <p:nvPr/>
        </p:nvSpPr>
        <p:spPr>
          <a:xfrm>
            <a:off x="838200" y="1284275"/>
            <a:ext cx="69549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COMUNICAÇÃO E CONTROLE DE MOTORES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2d52849a886_0_25"/>
          <p:cNvSpPr txBox="1"/>
          <p:nvPr/>
        </p:nvSpPr>
        <p:spPr>
          <a:xfrm>
            <a:off x="838200" y="2615825"/>
            <a:ext cx="9563100" cy="30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STM32 controla motores DC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Comunicação serial UART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Protocolo simples de comandos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g2d52849a886_0_25" title="WhatsApp Image 2025-12-15 at 12.52.50 (1).jpeg"/>
          <p:cNvPicPr preferRelativeResize="0"/>
          <p:nvPr/>
        </p:nvPicPr>
        <p:blipFill rotWithShape="1">
          <a:blip r:embed="rId4">
            <a:alphaModFix/>
          </a:blip>
          <a:srcRect b="26707" l="0" r="0" t="0"/>
          <a:stretch/>
        </p:blipFill>
        <p:spPr>
          <a:xfrm>
            <a:off x="6882225" y="1048012"/>
            <a:ext cx="3086100" cy="502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08f625481_0_128"/>
          <p:cNvSpPr txBox="1"/>
          <p:nvPr/>
        </p:nvSpPr>
        <p:spPr>
          <a:xfrm>
            <a:off x="572625" y="1716450"/>
            <a:ext cx="4762500" cy="19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COMUNICAÇÃO E CONTROLE DE MOTORES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g3b08f625481_0_1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4817" y="596350"/>
            <a:ext cx="3170325" cy="5388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08f625481_0_119"/>
          <p:cNvSpPr txBox="1"/>
          <p:nvPr/>
        </p:nvSpPr>
        <p:spPr>
          <a:xfrm>
            <a:off x="838200" y="1284275"/>
            <a:ext cx="80784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APLICATIVO DE APOIO (CONE Data Collector)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g3b08f625481_0_119"/>
          <p:cNvPicPr preferRelativeResize="0"/>
          <p:nvPr/>
        </p:nvPicPr>
        <p:blipFill rotWithShape="1">
          <a:blip r:embed="rId4">
            <a:alphaModFix/>
          </a:blip>
          <a:srcRect b="45504" l="0" r="0" t="0"/>
          <a:stretch/>
        </p:blipFill>
        <p:spPr>
          <a:xfrm>
            <a:off x="1679475" y="2098125"/>
            <a:ext cx="3655600" cy="442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b08f625481_0_119"/>
          <p:cNvPicPr preferRelativeResize="0"/>
          <p:nvPr/>
        </p:nvPicPr>
        <p:blipFill rotWithShape="1">
          <a:blip r:embed="rId4">
            <a:alphaModFix/>
          </a:blip>
          <a:srcRect b="0" l="0" r="0" t="54044"/>
          <a:stretch/>
        </p:blipFill>
        <p:spPr>
          <a:xfrm>
            <a:off x="6057925" y="2445000"/>
            <a:ext cx="3655600" cy="3733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c71175f96_0_18"/>
          <p:cNvSpPr txBox="1"/>
          <p:nvPr/>
        </p:nvSpPr>
        <p:spPr>
          <a:xfrm>
            <a:off x="838200" y="1284287"/>
            <a:ext cx="43275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7c71175f96_0_18"/>
          <p:cNvSpPr txBox="1"/>
          <p:nvPr/>
        </p:nvSpPr>
        <p:spPr>
          <a:xfrm>
            <a:off x="838200" y="2615825"/>
            <a:ext cx="9563100" cy="29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Módulos funcionaram isoladamente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Segurança respondeu corretamente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Navegação executou padrão de varredura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Classificação de grama com percentual moderado devido ao tamanho reduzido do dataset.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08f625481_0_34"/>
          <p:cNvSpPr txBox="1"/>
          <p:nvPr/>
        </p:nvSpPr>
        <p:spPr>
          <a:xfrm>
            <a:off x="838200" y="1284275"/>
            <a:ext cx="67533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LIMITAÇÕES E TRABALHOS FUTUROS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b08f625481_0_34"/>
          <p:cNvSpPr txBox="1"/>
          <p:nvPr/>
        </p:nvSpPr>
        <p:spPr>
          <a:xfrm>
            <a:off x="838200" y="2615825"/>
            <a:ext cx="95631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Testes majoritariamente em simulação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Sensível à iluminação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houve integração física completa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Trabalhos futuros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IMU + fusão sensorial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Testes externos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Integração da classificação de grama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08f625481_0_39"/>
          <p:cNvSpPr txBox="1"/>
          <p:nvPr/>
        </p:nvSpPr>
        <p:spPr>
          <a:xfrm>
            <a:off x="838200" y="1284287"/>
            <a:ext cx="43275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b08f625481_0_39"/>
          <p:cNvSpPr txBox="1"/>
          <p:nvPr/>
        </p:nvSpPr>
        <p:spPr>
          <a:xfrm>
            <a:off x="838200" y="2615825"/>
            <a:ext cx="95631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Protótipo desenvolvido com arquitetura modular híbrida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Módulos de visão e controle validados em modo de simulação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Segurança priorizada por lógica de arbitragem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Integração física parcial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2024-06-25T13:28:00Z</dcterms:created>
  <dc:creator>Katsuk Suemitsu Ofuchi</dc:creator>
</cp:coreProperties>
</file>